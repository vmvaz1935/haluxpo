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0" y="0"/>
            <a:ext cx="5287975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principal_png_we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85998"/>
            <a:ext cx="2286000" cy="9426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2148840"/>
            <a:ext cx="5715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4000" b="1" i="0">
                <a:solidFill>
                  <a:srgbClr val="1A1A1A"/>
                </a:solidFill>
                <a:latin typeface="Segoe UI"/>
              </a:rPr>
              <a:t>Hálux Valgo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0" i="0">
                <a:solidFill>
                  <a:srgbClr val="9A7239"/>
                </a:solidFill>
                <a:latin typeface="Segoe UI"/>
              </a:rPr>
              <a:t>Guia do pós-operatório — o que esperar e o que fazer em cada fase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24528"/>
            <a:ext cx="1371600" cy="3810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61772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Paciente: ______________________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Data da cirurgia: ____ / ____ / 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9893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CRM/SP 204325 | RQE 100836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ROTEIRO DA CONSULTA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O que vamos ver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64208"/>
            <a:ext cx="5806440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As três fases da recuperação e o que muda em cada uma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A linha do tempo: o que acontece até o retorno, no primeiro mês e depois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Orientações gerais — curativo, sandália, medicações, cicatriz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O dia a dia: banho, trabalho, calçados, dirigir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Sinais de alerta: quando falar com a equipe na hora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Os exercícios, um a um, com a dose de cada um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Marcos da recuperação e expectativa realista</a:t>
            </a:r>
          </a:p>
        </p:txBody>
      </p:sp>
      <p:pic>
        <p:nvPicPr>
          <p:cNvPr id="7" name="Picture 6" descr="03-what-is-hallux-valgus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420" y="1389888"/>
            <a:ext cx="3139440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797296"/>
            <a:ext cx="5806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6B6B6B"/>
                </a:solidFill>
                <a:latin typeface="Segoe UI"/>
              </a:rPr>
              <a:t>Esta apresentação segue exatamente o conteúdo da cartilha digital que você recebeu.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317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8892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</a:rPr>
              <a:t>As fases da recuperação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Cada fase tem um objetivo próprio. Saber em qual você está evita tanto o excesso quanto o medo desnecessário.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93392"/>
            <a:ext cx="1371600" cy="3810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phase-01-hv-protection-rest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163" y="914400"/>
            <a:ext cx="402479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FASE 1 · SEMANAS 0-2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Proteção e Repouso Inicial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Proteção da cirurgia, controle de dor e edema. O curativo deve permanecer intacto e a sandália cirúrgica deve ser usada o tempo todo.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29384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130552"/>
            <a:ext cx="5806440" cy="3941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Curativo: Manter intacto até o retorno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Dor e Edema: Controlar com repouso e elevação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Sandália: Usar o tempo todo — inclusive para dormir e no banho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Carga: Parcial, somente com a sandália cirúrgica</a:t>
            </a:r>
          </a:p>
        </p:txBody>
      </p:sp>
      <p:pic>
        <p:nvPicPr>
          <p:cNvPr id="8" name="Picture 7" descr="05-phase-01-hv-protection-rest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804" y="1856232"/>
            <a:ext cx="3768671" cy="4709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FASE 1 · SEMANAS 0-2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Proteção e Repouso Inicial — na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3490874" cy="40640"/>
          </a:xfrm>
          <a:prstGeom prst="rect">
            <a:avLst/>
          </a:prstGeom>
          <a:solidFill>
            <a:srgbClr val="5D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5D7468"/>
                </a:solidFill>
                <a:latin typeface="Segoe UI"/>
              </a:rPr>
              <a:t>FAZER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1350">
                <a:solidFill>
                  <a:srgbClr val="3A3A3A"/>
                </a:solidFill>
                <a:latin typeface="Segoe UI"/>
              </a:rPr>
              <a:t>Manter o pé elevado acima do nível do coração sempre que estiver deitada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1350">
                <a:solidFill>
                  <a:srgbClr val="3A3A3A"/>
                </a:solidFill>
                <a:latin typeface="Segoe UI"/>
              </a:rPr>
              <a:t>Usar a sandália cirúrgica o tempo todo: para andar, dormir e durante o banho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1350">
                <a:solidFill>
                  <a:srgbClr val="3A3A3A"/>
                </a:solidFill>
                <a:latin typeface="Segoe UI"/>
              </a:rPr>
              <a:t>Nunca pisar descalça, mesmo dentro de casa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1350">
                <a:solidFill>
                  <a:srgbClr val="3A3A3A"/>
                </a:solidFill>
                <a:latin typeface="Segoe UI"/>
              </a:rPr>
              <a:t>Fazer apenas atividades necessárias dentro de casa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1350">
                <a:solidFill>
                  <a:srgbClr val="3A3A3A"/>
                </a:solidFill>
                <a:latin typeface="Segoe UI"/>
              </a:rPr>
              <a:t>Carga parcial somente com a sandália cirúrgica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0410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0410" y="1664208"/>
            <a:ext cx="3490874" cy="40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9866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Segoe UI"/>
              </a:rPr>
              <a:t>EVITAR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9866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Remover, afrouxar ou manipular o curativo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Molhar o curativo em hipótese alguma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Aplicar pomadas, cremes ou qualquer substância sobre o curativo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Utilizar gelo (o curativo não permite passagem adequada de frio)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Caminhar longas distâncias ou ficar longos períodos em pé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Subir e descer escadas repetidamente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Fumar (retarda cicatrização)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3892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E0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3892" y="1664208"/>
            <a:ext cx="3490874" cy="40640"/>
          </a:xfrm>
          <a:prstGeom prst="rect">
            <a:avLst/>
          </a:prstGeom>
          <a:solidFill>
            <a:srgbClr val="4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3348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4A7C8A"/>
                </a:solidFill>
                <a:latin typeface="Segoe UI"/>
              </a:rPr>
              <a:t>EXERCÍCIOS LIBERADOS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348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▪  </a:t>
            </a:r>
            <a:r>
              <a:rPr sz="1350">
                <a:solidFill>
                  <a:srgbClr val="3A3A3A"/>
                </a:solidFill>
                <a:latin typeface="Segoe UI"/>
              </a:rPr>
              <a:t>Movimentos suaves dos dedos e tornozelo (quando liberado)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FASE 2 · SEMANAS 2-8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Progressão de Carga e Fisioterapia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Progressão gradual de carga e retorno a atividades básicas. Fisioterapia com início mais claro a partir da 4ª semana (mobilidade global sem carga). Por volta da 6ª semana, liberação da sandália cirúrgica e dos curativos.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29384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130552"/>
            <a:ext cx="5806440" cy="3941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Carga: Progressão conforme liberação médica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Movimento: Recuperar amplitude de movimento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Fisioterapia: Início mais claro a partir da 4ª semana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Sandália e Curativos: Liberação por volta da 6ª semana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Atividades: Retorno gradual a atividades básicas</a:t>
            </a:r>
          </a:p>
        </p:txBody>
      </p:sp>
      <p:pic>
        <p:nvPicPr>
          <p:cNvPr id="8" name="Picture 7" descr="10-phase-02-hv-load-physiotherapy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804" y="1856232"/>
            <a:ext cx="3768671" cy="4709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FASE 2 · SEMANAS 2-8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Progressão de Carga e Fisioterapia — na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3490874" cy="40640"/>
          </a:xfrm>
          <a:prstGeom prst="rect">
            <a:avLst/>
          </a:prstGeom>
          <a:solidFill>
            <a:srgbClr val="5D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5D7468"/>
                </a:solidFill>
                <a:latin typeface="Segoe UI"/>
              </a:rPr>
              <a:t>FAZER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95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950">
                <a:solidFill>
                  <a:srgbClr val="3A3A3A"/>
                </a:solidFill>
                <a:latin typeface="Segoe UI"/>
              </a:rPr>
              <a:t>Progressão de carga conforme orientação médica específica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95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950">
                <a:solidFill>
                  <a:srgbClr val="3A3A3A"/>
                </a:solidFill>
                <a:latin typeface="Segoe UI"/>
              </a:rPr>
              <a:t>Iniciar fisioterapia de forma mais clara a partir da 4ª semana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95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950">
                <a:solidFill>
                  <a:srgbClr val="3A3A3A"/>
                </a:solidFill>
                <a:latin typeface="Segoe UI"/>
              </a:rPr>
              <a:t>A partir da 4ª semana: mobilidade global sem carga (cadeia posterior sentado, quadril, joelho, tornozelo)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95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950">
                <a:solidFill>
                  <a:srgbClr val="3A3A3A"/>
                </a:solidFill>
                <a:latin typeface="Segoe UI"/>
              </a:rPr>
              <a:t>A partir da 4ª semana: bola na fáscia plantar sem sandália, carga leve/moderada (evitando a área operada)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95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950">
                <a:solidFill>
                  <a:srgbClr val="3A3A3A"/>
                </a:solidFill>
                <a:latin typeface="Segoe UI"/>
              </a:rPr>
              <a:t>A partir da 6ª semana: exercícios específicos de mobilidade ativa do hálux, conforme liberação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95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950">
                <a:solidFill>
                  <a:srgbClr val="3A3A3A"/>
                </a:solidFill>
                <a:latin typeface="Segoe UI"/>
              </a:rPr>
              <a:t>Continuar elevação do pé quando em repouso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95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950">
                <a:solidFill>
                  <a:srgbClr val="3A3A3A"/>
                </a:solidFill>
                <a:latin typeface="Segoe UI"/>
              </a:rPr>
              <a:t>Usar calçado adequado conforme orientação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95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950">
                <a:solidFill>
                  <a:srgbClr val="3A3A3A"/>
                </a:solidFill>
                <a:latin typeface="Segoe UI"/>
              </a:rPr>
              <a:t>Realizar exercícios prescritos regularmente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0410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0410" y="1664208"/>
            <a:ext cx="3490874" cy="40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9866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Segoe UI"/>
              </a:rPr>
              <a:t>EVITAR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9866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Sobrecarga precoce (pode comprometer consolidação óssea)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Exercícios ativos específicos do hálux antes da 6ª semana (proteger a região operada)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Carga no antepé ou bola sobre a área operada nas primeiras semanas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Calçados apertados ou de salto alto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Atividades de alto impacto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Longos períodos em pé sem descanso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Dirigir sem liberação médica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200">
                <a:solidFill>
                  <a:srgbClr val="3A3A3A"/>
                </a:solidFill>
                <a:latin typeface="Segoe UI"/>
              </a:rPr>
              <a:t>Carregar peso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3892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E0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3892" y="1664208"/>
            <a:ext cx="3490874" cy="40640"/>
          </a:xfrm>
          <a:prstGeom prst="rect">
            <a:avLst/>
          </a:prstGeom>
          <a:solidFill>
            <a:srgbClr val="4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3348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4A7C8A"/>
                </a:solidFill>
                <a:latin typeface="Segoe UI"/>
              </a:rPr>
              <a:t>EXERCÍCIOS LIBERADOS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348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050" b="1">
                <a:solidFill>
                  <a:srgbClr val="4A7C8A"/>
                </a:solidFill>
                <a:latin typeface="Segoe UI Symbol"/>
              </a:rPr>
              <a:t>▪  </a:t>
            </a:r>
            <a:r>
              <a:rPr sz="1050">
                <a:solidFill>
                  <a:srgbClr val="3A3A3A"/>
                </a:solidFill>
                <a:latin typeface="Segoe UI"/>
              </a:rPr>
              <a:t>Semana 4-6 — Alongamento de cadeia posterior sentado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050" b="1">
                <a:solidFill>
                  <a:srgbClr val="4A7C8A"/>
                </a:solidFill>
                <a:latin typeface="Segoe UI Symbol"/>
              </a:rPr>
              <a:t>▪  </a:t>
            </a:r>
            <a:r>
              <a:rPr sz="1050">
                <a:solidFill>
                  <a:srgbClr val="3A3A3A"/>
                </a:solidFill>
                <a:latin typeface="Segoe UI"/>
              </a:rPr>
              <a:t>Semana 4-6 — Mobilidade de quadril, joelho e tornozelo sem carga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050" b="1">
                <a:solidFill>
                  <a:srgbClr val="4A7C8A"/>
                </a:solidFill>
                <a:latin typeface="Segoe UI Symbol"/>
              </a:rPr>
              <a:t>▪  </a:t>
            </a:r>
            <a:r>
              <a:rPr sz="1050">
                <a:solidFill>
                  <a:srgbClr val="3A3A3A"/>
                </a:solidFill>
                <a:latin typeface="Segoe UI"/>
              </a:rPr>
              <a:t>Semana 4-6 — Bola na fáscia plantar, sem sandália, carga leve/moderada (evitando a área operada)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050" b="1">
                <a:solidFill>
                  <a:srgbClr val="4A7C8A"/>
                </a:solidFill>
                <a:latin typeface="Segoe UI Symbol"/>
              </a:rPr>
              <a:t>▪  </a:t>
            </a:r>
            <a:r>
              <a:rPr sz="1050">
                <a:solidFill>
                  <a:srgbClr val="3A3A3A"/>
                </a:solidFill>
                <a:latin typeface="Segoe UI"/>
              </a:rPr>
              <a:t>A partir da 6ª semana — Mobilização articular específica do hálux (quando liberado)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050" b="1">
                <a:solidFill>
                  <a:srgbClr val="4A7C8A"/>
                </a:solidFill>
                <a:latin typeface="Segoe UI Symbol"/>
              </a:rPr>
              <a:t>▪  </a:t>
            </a:r>
            <a:r>
              <a:rPr sz="1050">
                <a:solidFill>
                  <a:srgbClr val="3A3A3A"/>
                </a:solidFill>
                <a:latin typeface="Segoe UI"/>
              </a:rPr>
              <a:t>A partir da 6ª semana — Alongamentos suaves do hálux (conforme tolerância)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050" b="1">
                <a:solidFill>
                  <a:srgbClr val="4A7C8A"/>
                </a:solidFill>
                <a:latin typeface="Segoe UI Symbol"/>
              </a:rPr>
              <a:t>▪  </a:t>
            </a:r>
            <a:r>
              <a:rPr sz="1050">
                <a:solidFill>
                  <a:srgbClr val="3A3A3A"/>
                </a:solidFill>
                <a:latin typeface="Segoe UI"/>
              </a:rPr>
              <a:t>A partir da 6ª semana — Fortalecimento progressivo dos músculos do pé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050" b="1">
                <a:solidFill>
                  <a:srgbClr val="4A7C8A"/>
                </a:solidFill>
                <a:latin typeface="Segoe UI Symbol"/>
              </a:rPr>
              <a:t>▪  </a:t>
            </a:r>
            <a:r>
              <a:rPr sz="1050">
                <a:solidFill>
                  <a:srgbClr val="3A3A3A"/>
                </a:solidFill>
                <a:latin typeface="Segoe UI"/>
              </a:rPr>
              <a:t>A partir da 6ª semana — Mobilização suave da cicatriz (quando liberado pela equipe)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FASE 3 · MÊS 2-6 (ALTA EM 6 MESES)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Fortalecimento e Retorno às Atividades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Atividade física de baixo impacto a partir do 2º mês. Aos 3 meses, se a evolução estiver adequada, liberação para qualquer tipo de calçado e atividades de maior impacto. Alta médica prevista em 6 meses.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29384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130552"/>
            <a:ext cx="5806440" cy="3941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Atividade Física: Baixo impacto a partir do 2º mês; maior impacto a partir do 3º mês (se evolução adequada)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Calçados: Liberação para qualquer tipo de calçado aos 3 meses (se evolução adequada)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Força: Fortalecimento completo da musculatura do pé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Correção: Manutenção da correção obtida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Alta: Prevista em 6 meses</a:t>
            </a:r>
          </a:p>
        </p:txBody>
      </p:sp>
      <p:pic>
        <p:nvPicPr>
          <p:cNvPr id="8" name="Picture 7" descr="22-hv-phase-03-low-impact-exercise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357" y="1856232"/>
            <a:ext cx="3537565" cy="4709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FASE 3 · MÊS 2-6 (ALTA EM 6 MESES)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Fortalecimento e Retorno às Atividades — na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3490874" cy="40640"/>
          </a:xfrm>
          <a:prstGeom prst="rect">
            <a:avLst/>
          </a:prstGeom>
          <a:solidFill>
            <a:srgbClr val="5D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5D7468"/>
                </a:solidFill>
                <a:latin typeface="Segoe UI"/>
              </a:rPr>
              <a:t>FAZER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10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1100">
                <a:solidFill>
                  <a:srgbClr val="3A3A3A"/>
                </a:solidFill>
                <a:latin typeface="Segoe UI"/>
              </a:rPr>
              <a:t>Continuar exercícios de fortalecimento e alongamento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10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1100">
                <a:solidFill>
                  <a:srgbClr val="3A3A3A"/>
                </a:solidFill>
                <a:latin typeface="Segoe UI"/>
              </a:rPr>
              <a:t>Iniciar atividade física de baixo impacto (a partir do 2º mês, com liberação)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10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1100">
                <a:solidFill>
                  <a:srgbClr val="3A3A3A"/>
                </a:solidFill>
                <a:latin typeface="Segoe UI"/>
              </a:rPr>
              <a:t>Progredir para atividade física de maior impacto a partir do 3º mês (com liberação, se evolução adequada)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10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1100">
                <a:solidFill>
                  <a:srgbClr val="3A3A3A"/>
                </a:solidFill>
                <a:latin typeface="Segoe UI"/>
              </a:rPr>
              <a:t>Retomar o uso de qualquer tipo de calçado a partir do 3º mês (com liberação, se evolução adequada)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10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1100">
                <a:solidFill>
                  <a:srgbClr val="3A3A3A"/>
                </a:solidFill>
                <a:latin typeface="Segoe UI"/>
              </a:rPr>
              <a:t>Manter acompanhamento médico conforme agendado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100" b="1">
                <a:solidFill>
                  <a:srgbClr val="5D7468"/>
                </a:solidFill>
                <a:latin typeface="Segoe UI Symbol"/>
              </a:rPr>
              <a:t>✓  </a:t>
            </a:r>
            <a:r>
              <a:rPr sz="1100">
                <a:solidFill>
                  <a:srgbClr val="3A3A3A"/>
                </a:solidFill>
                <a:latin typeface="Segoe UI"/>
              </a:rPr>
              <a:t>Realizar controle radiográfico no retorno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0410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0410" y="1664208"/>
            <a:ext cx="3490874" cy="40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9866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Segoe UI"/>
              </a:rPr>
              <a:t>EVITAR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9866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350">
                <a:solidFill>
                  <a:srgbClr val="3A3A3A"/>
                </a:solidFill>
                <a:latin typeface="Segoe UI"/>
              </a:rPr>
              <a:t>Esportes de alto impacto sem liberação médica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350">
                <a:solidFill>
                  <a:srgbClr val="3A3A3A"/>
                </a:solidFill>
                <a:latin typeface="Segoe UI"/>
              </a:rPr>
              <a:t>Calçados inadequados antes da liberação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45309"/>
                </a:solidFill>
                <a:latin typeface="Segoe UI Symbol"/>
              </a:rPr>
              <a:t>✕  </a:t>
            </a:r>
            <a:r>
              <a:rPr sz="1350">
                <a:solidFill>
                  <a:srgbClr val="3A3A3A"/>
                </a:solidFill>
                <a:latin typeface="Segoe UI"/>
              </a:rPr>
              <a:t>Negligenciar exercícios de manutenção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3892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E0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3892" y="1664208"/>
            <a:ext cx="3490874" cy="40640"/>
          </a:xfrm>
          <a:prstGeom prst="rect">
            <a:avLst/>
          </a:prstGeom>
          <a:solidFill>
            <a:srgbClr val="4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3348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4A7C8A"/>
                </a:solidFill>
                <a:latin typeface="Segoe UI"/>
              </a:rPr>
              <a:t>EXERCÍCIOS LIBERADOS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348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▪  </a:t>
            </a:r>
            <a:r>
              <a:rPr sz="1350">
                <a:solidFill>
                  <a:srgbClr val="3A3A3A"/>
                </a:solidFill>
                <a:latin typeface="Segoe UI"/>
              </a:rPr>
              <a:t>Exercícios de fortalecimento específicos para o pé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▪  </a:t>
            </a:r>
            <a:r>
              <a:rPr sz="1350">
                <a:solidFill>
                  <a:srgbClr val="3A3A3A"/>
                </a:solidFill>
                <a:latin typeface="Segoe UI"/>
              </a:rPr>
              <a:t>Treino de marcha e equilíbrio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▪  </a:t>
            </a:r>
            <a:r>
              <a:rPr sz="1350">
                <a:solidFill>
                  <a:srgbClr val="3A3A3A"/>
                </a:solidFill>
                <a:latin typeface="Segoe UI"/>
              </a:rPr>
              <a:t>Exercícios funcionais com progressão gradual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317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8892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</a:rPr>
              <a:t>Linha do tempo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O que esperar em cada janela de tempo.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93392"/>
            <a:ext cx="1371600" cy="3810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-hv-recovery-timeline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963" y="914400"/>
            <a:ext cx="238719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DO PÓS-OPERATÓRIO IMEDIATO À 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Linha do tempo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F9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3490874" cy="4064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B78B4C"/>
                </a:solidFill>
                <a:latin typeface="Segoe UI"/>
              </a:rPr>
              <a:t>ATÉ O RETORNO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Curativo intacto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Sandália cirúrgica o tempo todo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Repouso com pé elevado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0410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F9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0410" y="1664208"/>
            <a:ext cx="3490874" cy="4064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9866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B78B4C"/>
                </a:solidFill>
                <a:latin typeface="Segoe UI"/>
              </a:rPr>
              <a:t>SEMANA 2-4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9866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Remoção de pontos (quando aplicável)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Progressão de carga conforme avaliação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Início de fisioterapia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3892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F9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3892" y="1664208"/>
            <a:ext cx="3490874" cy="4064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3348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B78B4C"/>
                </a:solidFill>
                <a:latin typeface="Segoe UI"/>
              </a:rPr>
              <a:t>SEMANA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348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Liberação da sandália cirúrgica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Liberação dos curativos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Progressão da fisioterapia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Início do manejo da cicatriz (quando liberado)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Retorno a trabalho sedentário (quando apropriado)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DO PÓS-OPERATÓRIO IMEDIATO À 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Linha do tempo (continuação)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F9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3490874" cy="4064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B78B4C"/>
                </a:solidFill>
                <a:latin typeface="Segoe UI"/>
              </a:rPr>
              <a:t>2 MESES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Atividade física de baixo impacto (com liberação)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0410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F9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0410" y="1664208"/>
            <a:ext cx="3490874" cy="4064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9866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B78B4C"/>
                </a:solidFill>
                <a:latin typeface="Segoe UI"/>
              </a:rPr>
              <a:t>3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9866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Liberação para qualquer tipo de calçado (se evolução adequada)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Liberação para atividade física de maior impacto (se evolução adequada)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Controle radiográfico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3892" y="1664208"/>
            <a:ext cx="3490874" cy="4407408"/>
          </a:xfrm>
          <a:prstGeom prst="roundRect">
            <a:avLst>
              <a:gd name="adj" fmla="val 6000"/>
            </a:avLst>
          </a:prstGeom>
          <a:solidFill>
            <a:srgbClr val="F9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3892" y="1664208"/>
            <a:ext cx="3490874" cy="4064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3348" y="1901952"/>
            <a:ext cx="305196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B78B4C"/>
                </a:solidFill>
                <a:latin typeface="Segoe UI"/>
              </a:rPr>
              <a:t>6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348" y="2286000"/>
            <a:ext cx="3051962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Alta médica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Liberação progressiva completa conforme consolidação óssea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317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PARTE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8892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</a:rPr>
              <a:t>Orientações gerais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O que cuidar todo dia, do curativo ao calçado.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93392"/>
            <a:ext cx="1371600" cy="3810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-hv-dos-and-donts-no-ice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22120"/>
            <a:ext cx="512064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ORIENTAÇÕES GERAIS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Curativo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64208"/>
            <a:ext cx="5806440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O curativo do centro cirúrgico deve permanecer intacto até o retorno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Não remover, não afrouxar e não manipular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Se houver qualquer sangramento, comunique a equipe (médica, fisioterapeuta ou enfermeira) — eles orientarão a conduta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Enquanto isso, apenas reforce com gaze estéril por cima em caso de pequeno sangramento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Não aplicar pomadas, cremes ou qualquer substância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Liberação dos curativos prevista por volta da 6ª semana</a:t>
            </a:r>
          </a:p>
        </p:txBody>
      </p:sp>
      <p:pic>
        <p:nvPicPr>
          <p:cNvPr id="7" name="Picture 6" descr="06-hv-intact-dressing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804" y="1389888"/>
            <a:ext cx="3768671" cy="4709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ORIENTAÇÕES GERAIS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Sandália Cirúrgica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64208"/>
            <a:ext cx="5806440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Usar a sandália o tempo todo: para andar, para dormir e durante o banho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A sandália protege a sola e evita carga descalça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Nunca pisar descalça, mesmo dentro de casa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Carga parcial somente com a sandália</a:t>
            </a:r>
          </a:p>
        </p:txBody>
      </p:sp>
      <p:pic>
        <p:nvPicPr>
          <p:cNvPr id="7" name="Picture 6" descr="07-hv-surgical-sandal-forefoot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50365"/>
            <a:ext cx="4983480" cy="398820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ORIENTAÇÕES GERAIS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Medicações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64208"/>
            <a:ext cx="11057839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Siga sempre a receita entregue pela equipe — as doses, os horários e o tempo de uso podem variar conforme o seu caso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Antibiótico: Zinnat® (cefuroxima) — por 7 dias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Anti-inflamatório: Alginac® — por 5 dias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Analgésico para dor leve a moderada: Novalgina®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Analgésico para dor intensa: Tramadol®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Após tomar Tramadol, evite dirigir, ingerir álcool ou tomar decisões importantes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Profilaxia antitrombótica (prevenção de trombose): mantida ou retirada conforme avaliação individual da equipe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ORIENTAÇÕES GERAIS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Repouso e Elevação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64208"/>
            <a:ext cx="5806440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Manter o pé elevado acima do nível do coração sempre que estiver deitada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Evitar caminhar longas distâncias ou ficar longos períodos em pé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Evitar subir e descer escadas repetidamente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Fazer apenas atividades necessárias dentro de casa</a:t>
            </a:r>
          </a:p>
        </p:txBody>
      </p:sp>
      <p:pic>
        <p:nvPicPr>
          <p:cNvPr id="7" name="Picture 6" descr="08-hv-foot-elevation-edema-control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420" y="1389888"/>
            <a:ext cx="3139440" cy="4709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ORIENTAÇÕES GERAIS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Prevenção de Trombose (TVP)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64208"/>
            <a:ext cx="11057839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Movimente os dedos e o tornozelo com frequência: puxe o pé para cima e empurre para baixo (movimento de bomba), várias vezes ao dia, mesmo deitada — isso ativa a circulação da perna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Volte a caminhar assim que a equipe liberar, sempre com a sandália cirúrgica: pequenas caminhadas ao longo do dia ajudam o sangue a circular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Nos períodos de repouso, mantenha o pé elevado e evite ficar muitas horas totalmente parada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Beba bastante água ao longo do dia e evite cruzar as pernas por longos períodos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Em viagens ou trajetos longos, faça pausas para movimentar as pernas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Use meias de compressão e/ou medicação anticoagulante apenas se forem prescritas pela equipe — não inicie por conta própria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Avise a equipe se você tem histórico de trombose, usa anticoncepcional/hormônios, é fumante ou tem varizes — pode ser necessário um cuidado extra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ORIENTAÇÕES GERAIS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Gelo — NÃO utilizar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64208"/>
            <a:ext cx="5806440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Não utilizar gelo no pós-operatório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O curativo não permite passagem adequada de frio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Para controle de edema: repouso, elevação do pé e uso contínuo da sandália</a:t>
            </a:r>
          </a:p>
        </p:txBody>
      </p:sp>
      <p:pic>
        <p:nvPicPr>
          <p:cNvPr id="7" name="Picture 6" descr="09-hv-dos-and-donts-no-ice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83308"/>
            <a:ext cx="4983480" cy="3322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ORIENTAÇÕES GERAIS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Cuidado com a Cicatriz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64208"/>
            <a:ext cx="5806440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Após cicatrização, a cicatriz pode receber tratamento quando liberado pela equipe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Mobilização manual e massagem ajudam a reduzir rigidez, aderências, dor e coceira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O objetivo é melhorar mobilidade do tecido e conforto no uso do calçado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A progressão respeita a técnica cirúrgica e a fase de cicatrização — sempre com orientação da equipe</a:t>
            </a:r>
          </a:p>
        </p:txBody>
      </p:sp>
      <p:pic>
        <p:nvPicPr>
          <p:cNvPr id="7" name="Picture 6" descr="13-hv-scar-care-massage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420" y="1389888"/>
            <a:ext cx="3139440" cy="4709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317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PARTE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8892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</a:rPr>
              <a:t>O dia a dia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Como resolver as situações práticas da rotina.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93392"/>
            <a:ext cx="1371600" cy="3810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9-hv-daily-activity-bath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163" y="914400"/>
            <a:ext cx="402479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DIA A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Banho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64208"/>
            <a:ext cx="5806440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Usar a sandália cirúrgica durante o banho (protege a sola)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Não molhar o curativo em hipótese alguma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Se necessário, proteger com plástico/bolsa impermeável</a:t>
            </a:r>
          </a:p>
        </p:txBody>
      </p:sp>
      <p:pic>
        <p:nvPicPr>
          <p:cNvPr id="7" name="Picture 6" descr="19-hv-daily-activity-bath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804" y="1389888"/>
            <a:ext cx="3768671" cy="4709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DIA A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Locomoção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64208"/>
            <a:ext cx="5806440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Carga parcial somente com a sandália cirúrgica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Evitar subir e descer escadas repetidamente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Fazer apenas deslocamentos necessários dentro de casa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Progressão conforme avaliação médica</a:t>
            </a:r>
          </a:p>
        </p:txBody>
      </p:sp>
      <p:pic>
        <p:nvPicPr>
          <p:cNvPr id="7" name="Picture 6" descr="21-hv-footwear-progression-wide-toe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83308"/>
            <a:ext cx="4983480" cy="3322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DIA A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Dirigir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64208"/>
            <a:ext cx="11057839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Não dirigir por enquanto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A liberação depende da avaliação médica individual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DIA A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Trabalho e Atividades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64208"/>
            <a:ext cx="5806440" cy="4407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Não fazer academia, corrida ou esportes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Evitar carregar peso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Atividade física de baixo impacto: a partir do 2º mês (com liberação)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600">
                <a:solidFill>
                  <a:srgbClr val="3A3A3A"/>
                </a:solidFill>
                <a:latin typeface="Segoe UI"/>
              </a:rPr>
              <a:t>Retorno ao trabalho depende do tipo de atividade — consulte a equipe</a:t>
            </a:r>
          </a:p>
        </p:txBody>
      </p:sp>
      <p:pic>
        <p:nvPicPr>
          <p:cNvPr id="7" name="Picture 6" descr="20-hv-work-home-office-elevated-foot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205" y="1389888"/>
            <a:ext cx="3531870" cy="4709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ATENÇÃO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Sinais de alerta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5806440" cy="3977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507492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!  </a:t>
            </a:r>
            <a:r>
              <a:rPr sz="1500">
                <a:solidFill>
                  <a:srgbClr val="3A3A3A"/>
                </a:solidFill>
                <a:latin typeface="Segoe UI"/>
              </a:rPr>
              <a:t>Dor que não melhora com analgésico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!  </a:t>
            </a:r>
            <a:r>
              <a:rPr sz="1500">
                <a:solidFill>
                  <a:srgbClr val="3A3A3A"/>
                </a:solidFill>
                <a:latin typeface="Segoe UI"/>
              </a:rPr>
              <a:t>Febre acima de 37,8°C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!  </a:t>
            </a:r>
            <a:r>
              <a:rPr sz="1500">
                <a:solidFill>
                  <a:srgbClr val="3A3A3A"/>
                </a:solidFill>
                <a:latin typeface="Segoe UI"/>
              </a:rPr>
              <a:t>Vermelhidão intensa ou secreção no curativo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!  </a:t>
            </a:r>
            <a:r>
              <a:rPr sz="1500">
                <a:solidFill>
                  <a:srgbClr val="3A3A3A"/>
                </a:solidFill>
                <a:latin typeface="Segoe UI"/>
              </a:rPr>
              <a:t>Panturrilha dolorida, inchada, vermelha, quente ou endurecida (possível trombose)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!  </a:t>
            </a:r>
            <a:r>
              <a:rPr sz="1500">
                <a:solidFill>
                  <a:srgbClr val="3A3A3A"/>
                </a:solidFill>
                <a:latin typeface="Segoe UI"/>
              </a:rPr>
              <a:t>Falta de ar súbita, dor no peito ou palpitação — procure emergência imediatamente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!  </a:t>
            </a:r>
            <a:r>
              <a:rPr sz="1500">
                <a:solidFill>
                  <a:srgbClr val="3A3A3A"/>
                </a:solidFill>
                <a:latin typeface="Segoe UI"/>
              </a:rPr>
              <a:t>Sangramento volumoso no curativo</a:t>
            </a:r>
          </a:p>
        </p:txBody>
      </p:sp>
      <p:pic>
        <p:nvPicPr>
          <p:cNvPr id="8" name="Picture 7" descr="18-hv-warning-signs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926" y="1664208"/>
            <a:ext cx="3338428" cy="3977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81558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B45309"/>
                </a:solidFill>
                <a:latin typeface="Segoe UI"/>
              </a:rPr>
              <a:t>Na dúvida, entre em contato. É sempre melhor avisar cedo.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317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PARTE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8892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</a:rPr>
              <a:t>Os exercícios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Cada exercício com a posição, a execução e a dose. Comece apenas quando a equipe liberar.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93392"/>
            <a:ext cx="1371600" cy="3810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-hv-start-physiotherapy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163" y="914400"/>
            <a:ext cx="402479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GRUPO DE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Liberação e Mobilidade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A partir da semana 6 — quando liberado pela equipe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41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Liberação com Bola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Movimentos Passivos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Tração Articular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Mobilização do Hálux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Liberação do Extensor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Massagem Capsular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LIBERAÇÃO E MOBILIDADE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Liberação com Bola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Liberação miofascial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1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ball_release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Coloque a região plantar do antepé sobre uma bola de massagem e aplique carga para mobilizar as estruturas sob a base do hálux.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30 segundos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LIBERAÇÃO E MOBILIDADE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Movimentos Passivos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Mobilidade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2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passive_movements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Com o pé relaxado, mova o hálux para cima e para baixo, para os lados e em círculos, sem ultrapassar a 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20 repetições em cada direção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LIBERAÇÃO E MOBILIDADE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Tração Articular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Mobilização articular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3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joint_traction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Com o tornozelo apoiado sobre o joelho oposto, segure a base do hálux e aplique uma tração suave afastando o dedo do restante do pé.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Segurar 10s, repetir 3-5×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LIBERAÇÃO E MOBILIDADE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Mobilização do Hálux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Mobilização articular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4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joint_mobilization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Mantenha uma leve tração na base do hálux e realize movimentos de subida e descida para soltar a articulação.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30 segundos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LIBERAÇÃO E MOBILIDADE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Liberação do Extensor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Liberação miofascial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5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extensor_release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Com o pé apoiado sobre o joelho, use os polegares na face dorsal do pé e deslize em direção ao hálux para reduzir tensão do extensor longo.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10 deslizamentos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LIBERAÇÃO E MOBILIDADE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Massagem Capsular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Liberação periarticular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6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capsule_massage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Aplique pressão firme ao redor da circunferência da articulação do hálux, usando movimento circular com os dedos.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1 minuto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GRUPO DE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Alongamentos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A partir da semana 6 — quando liberado pela equipe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41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Alongamento em Flexão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Alongamento em Extensão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Extensão Contra a Parede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Alongamento Avançado de Extensão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Alongamento em Abdução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ALONGAMENTOS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Alongamento em Flexão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Alongamento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7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flexion_stretch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Com o pé em flexão plantar, puxe o hálux para baixo para alongar a face dorsal da base do dedo.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30 segundos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ALONGAMENTOS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Alongamento em Extensão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Alongamento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8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extension_stretch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Segure o calcanhar e o antepé, leve o pé em dorsiflexão e puxe o hálux para trás para alongar a região plantar e o arco medial.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30 segundos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ALONGAMENTOS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Extensão Contra a Parede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Alongamento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9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extension_wall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Posicione a face plantar do hálux na quina da parede, aproxime o pé e incline o corpo até sentir alongamento na planta do hálux.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30 segundos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ALONGAMENTOS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Alongamento Avançado de Extensão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Alongamento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10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advanced_extension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Ajoelhe-se com os dedos dobrados para trás e transfira o peso do corpo sobre os artelhos para aumentar a extensão do hálux.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30 segundos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ALONGAMENTOS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Alongamento em Abdução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Alongamento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11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_abduction_stretch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Segure o médio pé e puxe o hálux para fora para alongar as estruturas mediais ao redor do dedo.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30 segundos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GRUPO DE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Fortalecimento e Controle Motor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A partir da 6ª semana — exercícios específicos do pé/hálux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41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Elevação do Hálux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Pressão do Hálux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Abdução Isométrica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Abrir e Fechar os Dedos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FORTALECIMENTO E CONTROLE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Elevação do Hálux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Fortalecimento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12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_big_toe_lift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Com o pé apoiado no chão, eleve o hálux o máximo possível sem mover os demais dedos.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Segurar 5s, repetir 20×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FORTALECIMENTO E CONTROLE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Pressão do Hálux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Fortalecimento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13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3_big_toe_press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Com o pé sobre uma toalha, faça o hálux cavar e puxar o tecido, buscando ativação sob o arco plantar.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20 repetições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FORTALECIMENTO E CONTROLE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Abdução Isométrica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Fortalecimento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14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4_abduction_isometric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Empurre o hálux para fora enquanto oferece resistência contrária com o dedo da mão.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Segurar 20 segundos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FORTALECIMENTO E CONTROLE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Abrir e Fechar os Dedos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Controle motor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15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5_spread_squeeze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Alterne entre abrir todos os dedos do pé e juntá-los novamente, sem flexionar os dedos nem mover o pé.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30 repetições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GRUPO DE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Treino Funcional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A partir do 2º mês — com carga completa liberada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41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Inclinação Anterior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Elevação de Calcanhares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Impulso com Perna de Trás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TREINO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Inclinação Anterior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Fortalecimento funcional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16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6_forward_lean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Em pé, pressione o hálux no chão e incline o corpo à frente a partir dos tornozelos, sem perder o equilíbrio.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10 repetições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TREINO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Elevação de Calcanhares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Treino funcional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17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7_heel_raise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Eleve os calcanhares mantendo pés e dedos apontados para frente, com pressão ativa através do hálux.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30 repetições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TREINO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Impulso com Perna de 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Treino de marcha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18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8_push_off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Em base alternada, eleve o calcanhar da perna de trás enquanto leva o joelho da frente à frente, mantendo extensão do hálux no pé posterior.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20 repetições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GRUPO DE EXERCÍCIOS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Exercícios Avançados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A partir do 3º mês — com liberação médica, conforme consolidação óssea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11057839" cy="41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Passadas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Mountain Climbers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Saltos Unipodais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Toques Laterais do Hálux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600" b="1">
                <a:solidFill>
                  <a:srgbClr val="B78B4C"/>
                </a:solidFill>
                <a:latin typeface="Segoe UI Symbol"/>
              </a:rPr>
              <a:t>▪  </a:t>
            </a:r>
            <a:r>
              <a:rPr sz="1600">
                <a:solidFill>
                  <a:srgbClr val="3A3A3A"/>
                </a:solidFill>
                <a:latin typeface="Segoe UI"/>
              </a:rPr>
              <a:t>Saltos Laterais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EXERCÍCIOS AVANÇADOS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Passadas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Exercício avançado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19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9_lunges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Realize passadas mantendo o hálux do membro de trás alinhado para frente durante todo o movimento.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10 repetições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EXERCÍCIOS AVANÇADOS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Mountain Climbers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Exercício avançado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20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_mountain_climbers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Assuma posição de prancha alta e alterne a elevação dos joelhos em direção ao peito, suportando carga no antepé.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20 repetições de cada lado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EXERCÍCIOS AVANÇADOS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Saltos Unipodais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Exercício avançado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21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1_hopping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Em pé, realize pequenos saltos em um só apoio, progressivamente conforme tolerância.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20 repetições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EXERCÍCIOS AVANÇADOS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Toques Laterais do Hálux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Movimento lateral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22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2_side_toe_taps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A partir da posição em pé, leve o pé para o lado, toque o hálux no solo e retorne à posição inicial.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20 repetições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EXERCÍCIOS AVANÇADOS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Saltos Laterais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99032"/>
            <a:ext cx="99605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Movimento lateral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60350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23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5989320" cy="4123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3_side_hops-static_web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74951"/>
            <a:ext cx="5769864" cy="3814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057400"/>
            <a:ext cx="4702759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0">
                <a:solidFill>
                  <a:srgbClr val="3A3A3A"/>
                </a:solidFill>
                <a:latin typeface="Segoe UI"/>
              </a:rPr>
              <a:t>Em apoio unipodal, faça saltos laterais curtos de um lado para o outro.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8" y="5084064"/>
            <a:ext cx="4702759" cy="960120"/>
          </a:xfrm>
          <a:prstGeom prst="roundRect">
            <a:avLst>
              <a:gd name="adj" fmla="val 6000"/>
            </a:avLst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5239512"/>
            <a:ext cx="4190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 i="0">
                <a:solidFill>
                  <a:srgbClr val="9A7239"/>
                </a:solidFill>
                <a:latin typeface="Segoe UI"/>
              </a:rPr>
              <a:t>DOSE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20 repetições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317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PARTE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8892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</a:rPr>
              <a:t>Marcos e expectativas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Quando cada coisa costuma acontecer — e o que não prometer a si mesma.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93392"/>
            <a:ext cx="1371600" cy="3810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-hv-realistic-expectations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60" y="914400"/>
            <a:ext cx="3352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MARCOS E EXPECTATIVAS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Marcos da recuperação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5382615" cy="4407408"/>
          </a:xfrm>
          <a:prstGeom prst="roundRect">
            <a:avLst>
              <a:gd name="adj" fmla="val 6000"/>
            </a:avLst>
          </a:prstGeom>
          <a:solidFill>
            <a:srgbClr val="E0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5382615" cy="40640"/>
          </a:xfrm>
          <a:prstGeom prst="rect">
            <a:avLst/>
          </a:prstGeom>
          <a:solidFill>
            <a:srgbClr val="4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4943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4A7C8A"/>
                </a:solidFill>
                <a:latin typeface="Segoe UI"/>
              </a:rPr>
              <a:t>ATÉ O RETORNO (SEMANAL NAS 2 PRIMEIRAS SEMANAS)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86000"/>
            <a:ext cx="4943703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Curativo intacto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Sandália cirúrgica o tempo todo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Repouso com pé elevado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Carga parcial apenas com a sandália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Retornos semanais para avaliação da cirurgia e curativo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1664208"/>
            <a:ext cx="5382615" cy="4407408"/>
          </a:xfrm>
          <a:prstGeom prst="roundRect">
            <a:avLst>
              <a:gd name="adj" fmla="val 6000"/>
            </a:avLst>
          </a:prstGeom>
          <a:solidFill>
            <a:srgbClr val="E0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2151" y="1664208"/>
            <a:ext cx="5382615" cy="40640"/>
          </a:xfrm>
          <a:prstGeom prst="rect">
            <a:avLst/>
          </a:prstGeom>
          <a:solidFill>
            <a:srgbClr val="4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901952"/>
            <a:ext cx="4943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4A7C8A"/>
                </a:solidFill>
                <a:latin typeface="Segoe UI"/>
              </a:rPr>
              <a:t>4 SEMANAS — INÍCIO MAIS CLARO DA FISIOTERAPIA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286000"/>
            <a:ext cx="4943703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Início mais claro da fisioterapia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Mobilidade global sem carga: cadeia posterior sentado, quadril, joelho e tornozelo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Bola na fáscia plantar sem sandália, com carga leve a moderada (evitando a área operada)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Objetivo: evitar rigidez proximal sem estressar o antepé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MARCOS E EXPECTATIVAS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Marcos da recuperação (continuação)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5382615" cy="4407408"/>
          </a:xfrm>
          <a:prstGeom prst="roundRect">
            <a:avLst>
              <a:gd name="adj" fmla="val 6000"/>
            </a:avLst>
          </a:prstGeom>
          <a:solidFill>
            <a:srgbClr val="E0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5382615" cy="40640"/>
          </a:xfrm>
          <a:prstGeom prst="rect">
            <a:avLst/>
          </a:prstGeom>
          <a:solidFill>
            <a:srgbClr val="4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4943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4A7C8A"/>
                </a:solidFill>
                <a:latin typeface="Segoe UI"/>
              </a:rPr>
              <a:t>6 SEMANAS — LIBERAÇÃO DA SANDÁLIA E DOS CURATIVOS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86000"/>
            <a:ext cx="4943703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Liberação da sandália cirúrgica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Liberação dos curativos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Início dos exercícios específicos do pé/hálux: elevação, abdução, controle dos dedos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Progressão da reabilitação conforme avaliação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1664208"/>
            <a:ext cx="5382615" cy="4407408"/>
          </a:xfrm>
          <a:prstGeom prst="roundRect">
            <a:avLst>
              <a:gd name="adj" fmla="val 6000"/>
            </a:avLst>
          </a:prstGeom>
          <a:solidFill>
            <a:srgbClr val="E0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2151" y="1664208"/>
            <a:ext cx="5382615" cy="40640"/>
          </a:xfrm>
          <a:prstGeom prst="rect">
            <a:avLst/>
          </a:prstGeom>
          <a:solidFill>
            <a:srgbClr val="4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901952"/>
            <a:ext cx="4943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4A7C8A"/>
                </a:solidFill>
                <a:latin typeface="Segoe UI"/>
              </a:rPr>
              <a:t>2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286000"/>
            <a:ext cx="4943703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Atividade física de baixo impacto (com liberação)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MARCOS E EXPECTATIVAS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Marcos da recuperação (continuação)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5382615" cy="4407408"/>
          </a:xfrm>
          <a:prstGeom prst="roundRect">
            <a:avLst>
              <a:gd name="adj" fmla="val 6000"/>
            </a:avLst>
          </a:prstGeom>
          <a:solidFill>
            <a:srgbClr val="E0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5382615" cy="40640"/>
          </a:xfrm>
          <a:prstGeom prst="rect">
            <a:avLst/>
          </a:prstGeom>
          <a:solidFill>
            <a:srgbClr val="4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01952"/>
            <a:ext cx="4943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4A7C8A"/>
                </a:solidFill>
                <a:latin typeface="Segoe UI"/>
              </a:rPr>
              <a:t>3 MESES — LIBERAÇÃO FUNCIONAL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86000"/>
            <a:ext cx="4943703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Liberação funcional conforme consolidação óssea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Liberação para qualquer tipo de calçado (se evolução adequada)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Liberação para atividade física de maior impacto (se evolução adequada)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Controle radiográfico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1664208"/>
            <a:ext cx="5382615" cy="4407408"/>
          </a:xfrm>
          <a:prstGeom prst="roundRect">
            <a:avLst>
              <a:gd name="adj" fmla="val 6000"/>
            </a:avLst>
          </a:prstGeom>
          <a:solidFill>
            <a:srgbClr val="E0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2151" y="1664208"/>
            <a:ext cx="5382615" cy="40640"/>
          </a:xfrm>
          <a:prstGeom prst="rect">
            <a:avLst/>
          </a:prstGeom>
          <a:solidFill>
            <a:srgbClr val="4A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901952"/>
            <a:ext cx="4943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4A7C8A"/>
                </a:solidFill>
                <a:latin typeface="Segoe UI"/>
              </a:rPr>
              <a:t>6 MESES — ALTA COMPLETA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286000"/>
            <a:ext cx="4943703" cy="358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Alta médica completa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 b="1">
                <a:solidFill>
                  <a:srgbClr val="4A7C8A"/>
                </a:solidFill>
                <a:latin typeface="Segoe UI Symbol"/>
              </a:rPr>
              <a:t>•  </a:t>
            </a:r>
            <a:r>
              <a:rPr sz="1350">
                <a:solidFill>
                  <a:srgbClr val="3A3A3A"/>
                </a:solidFill>
                <a:latin typeface="Segoe UI"/>
              </a:rPr>
              <a:t>Liberação progressiva completa conforme consolidação óssea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317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1" i="0">
                <a:solidFill>
                  <a:srgbClr val="B78B4C"/>
                </a:solidFill>
                <a:latin typeface="Segoe UI"/>
              </a:rPr>
              <a:t>PARTE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8892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</a:rPr>
              <a:t>Dúvidas frequentes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As perguntas que mais aparecem no consultório.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93392"/>
            <a:ext cx="1371600" cy="3810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4-hv-faq_p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059" y="914400"/>
            <a:ext cx="422100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DÚVIDAS FREQUENTES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Dúvidas frequentes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110578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40640" cy="21031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847088"/>
            <a:ext cx="1043604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Segoe UI"/>
              </a:rPr>
              <a:t>Posso usar gelo para o inchaço?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A3A3A"/>
                </a:solidFill>
                <a:latin typeface="Segoe UI"/>
              </a:rPr>
              <a:t>Não. O curativo do pós-operatório não permite passagem adequada de frio. O controle do edema é feito com repouso, elevação do pé e uso contínuo da sandália cirúrgica.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986784"/>
            <a:ext cx="110578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986784"/>
            <a:ext cx="40640" cy="21031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169664"/>
            <a:ext cx="1043604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Segoe UI"/>
              </a:rPr>
              <a:t>Posso pisar sem a sandália?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A3A3A"/>
                </a:solidFill>
                <a:latin typeface="Segoe UI"/>
              </a:rPr>
              <a:t>Não. A sandália cirúrgica deve ser usada o tempo todo — para andar, dormir e durante o banho. Nunca pisar descalça, mesmo dentro de casa.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DÚVIDAS FREQUENTES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Dúvidas frequentes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110578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40640" cy="21031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847088"/>
            <a:ext cx="1043604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Segoe UI"/>
              </a:rPr>
              <a:t>Quando posso voltar a dirigir?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A3A3A"/>
                </a:solidFill>
                <a:latin typeface="Segoe UI"/>
              </a:rPr>
              <a:t>Não dirija por enquanto. A liberação depende da avaliação médica individual e do lado operado.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986784"/>
            <a:ext cx="110578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986784"/>
            <a:ext cx="40640" cy="21031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169664"/>
            <a:ext cx="1043604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Segoe UI"/>
              </a:rPr>
              <a:t>Quando posso fazer atividade física?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A3A3A"/>
                </a:solidFill>
                <a:latin typeface="Segoe UI"/>
              </a:rPr>
              <a:t>Atividade física de baixo impacto é liberada a partir do 2º mês, com autorização médica. A partir do 3º mês, se a evolução estiver adequada, é liberada atividade física de maior impacto e o uso de qualquer tipo de calçado. Esportes dependem da consolidação óssea e liberação individualizada.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DÚVIDAS FREQUENTES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Dúvidas frequentes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110578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40640" cy="21031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847088"/>
            <a:ext cx="1043604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Segoe UI"/>
              </a:rPr>
              <a:t>E se o curativo sangrar um pouco?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A3A3A"/>
                </a:solidFill>
                <a:latin typeface="Segoe UI"/>
              </a:rPr>
              <a:t>Se houver qualquer sangramento, comunique a equipe (médica, fisioterapeuta ou enfermeira) para que orientem a conduta. Enquanto isso, apenas reforce com gaze estéril por cima — não remova, não afrouxe e não manipule o curativo. Se o sangramento for volumoso, procure a equipe imediatamente.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986784"/>
            <a:ext cx="110578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986784"/>
            <a:ext cx="40640" cy="21031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169664"/>
            <a:ext cx="1043604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Segoe UI"/>
              </a:rPr>
              <a:t>É normal ter inchaço?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A3A3A"/>
                </a:solidFill>
                <a:latin typeface="Segoe UI"/>
              </a:rPr>
              <a:t>Sim, o edema é esperado. O inchaço melhora de forma progressiva, mas pode persistir de maneira controlada até por volta do 6º mês. É normal variar bastante conforme o perfil do paciente (sexo, idade, comorbidades, entre outros fatores). Repouso, elevação do pé e uso contínuo da sandália ajudam no controle. Se piorar subitamente ou vier acompanhado de dor na panturrilha, procure a equipe.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DÚVIDAS FREQUENTES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99605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Segoe UI"/>
              </a:rPr>
              <a:t>Dúvidas frequentes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51560" cy="330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110578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40640" cy="21031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847088"/>
            <a:ext cx="1043604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Segoe UI"/>
              </a:rPr>
              <a:t>Quanto tempo dura a fisioterapia?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A3A3A"/>
                </a:solidFill>
                <a:latin typeface="Segoe UI"/>
              </a:rPr>
              <a:t>A duração da fisioterapia é individualizada conforme a evolução. O programa inclui mobilização, alongamento, fortalecimento e treino funcional.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986784"/>
            <a:ext cx="11057839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986784"/>
            <a:ext cx="40640" cy="210312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169664"/>
            <a:ext cx="1043604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Segoe UI"/>
              </a:rPr>
              <a:t>Preciso cuidar da cicatriz depois que ela fechar?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 i="0">
                <a:solidFill>
                  <a:srgbClr val="3A3A3A"/>
                </a:solidFill>
                <a:latin typeface="Segoe UI"/>
              </a:rPr>
              <a:t>Sim. Após a cicatrização, o tratamento da cicatriz ajuda a reduzir rigidez, aderências, dor e coceira. Quando liberado pela equipe, pode incluir mobilização manual, massagem e outros recursos em fisioterapia.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72784"/>
            <a:ext cx="11057839" cy="11430"/>
          </a:xfrm>
          <a:prstGeom prst="rect">
            <a:avLst/>
          </a:prstGeom>
          <a:solidFill>
            <a:srgbClr val="F5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6422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0207" y="63642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B78B4C"/>
                </a:solidFill>
                <a:latin typeface="Segoe U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principal_png_we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32262"/>
            <a:ext cx="2103120" cy="8671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210312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Segoe UI"/>
              </a:rPr>
              <a:t>Combinado?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880360"/>
            <a:ext cx="1371600" cy="38100"/>
          </a:xfrm>
          <a:prstGeom prst="rect">
            <a:avLst/>
          </a:prstGeom>
          <a:solidFill>
            <a:srgbClr val="B7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46120"/>
            <a:ext cx="7680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500">
                <a:solidFill>
                  <a:srgbClr val="3A3A3A"/>
                </a:solidFill>
                <a:latin typeface="Segoe UI"/>
              </a:rPr>
              <a:t>A cartilha digital fica com você e pode ser consultada a qualquer momento.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500">
                <a:solidFill>
                  <a:srgbClr val="3A3A3A"/>
                </a:solidFill>
                <a:latin typeface="Segoe UI"/>
              </a:rPr>
              <a:t>Os exercícios só começam quando a equipe liberar.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500">
                <a:solidFill>
                  <a:srgbClr val="3A3A3A"/>
                </a:solidFill>
                <a:latin typeface="Segoe UI"/>
              </a:rPr>
              <a:t>Qualquer sinal de alerta, fale com a gente na hora.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500" b="1">
                <a:solidFill>
                  <a:srgbClr val="B78B4C"/>
                </a:solidFill>
                <a:latin typeface="Segoe UI Symbol"/>
              </a:rPr>
              <a:t>•  </a:t>
            </a:r>
            <a:r>
              <a:rPr sz="1500">
                <a:solidFill>
                  <a:srgbClr val="3A3A3A"/>
                </a:solidFill>
                <a:latin typeface="Segoe UI"/>
              </a:rPr>
              <a:t>O acompanhamento é semanal nas duas primeiras semanas.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103120"/>
            <a:ext cx="3200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37744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CONTATO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3A3A3A"/>
                </a:solidFill>
                <a:latin typeface="Segoe UI"/>
              </a:rPr>
              <a:t>Dra. Laice Cunha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3A3A3A"/>
                </a:solidFill>
                <a:latin typeface="Segoe UI"/>
              </a:rPr>
              <a:t>dralaicecunha.com.br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3A3A3A"/>
                </a:solidFill>
                <a:latin typeface="Segoe UI"/>
              </a:rPr>
              <a:t>Cartilha: cartilhas.dralaicecunha.com.br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3A3A3A"/>
                </a:solidFill>
                <a:latin typeface="Segoe UI"/>
              </a:rPr>
              <a:t>Acompanhamento: acompanhamento.dralaicecunha.com.br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806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6B6B6B"/>
                </a:solidFill>
                <a:latin typeface="Segoe UI"/>
              </a:rPr>
              <a:t>Dra. Laice Gomes Cunha · Ortopedia e Traumatologia — Cirurgia do Pé e Tornozelo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B78B4C"/>
                </a:solidFill>
                <a:latin typeface="Segoe UI"/>
              </a:rPr>
              <a:t>CRM/SP 204325 | RQE 100836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